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6.png" ContentType="image/png"/>
  <Override PartName="/ppt/media/image2.png" ContentType="image/png"/>
  <Override PartName="/ppt/media/image10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jpeg" ContentType="image/jpe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8.xml.rels" ContentType="application/vnd.openxmlformats-package.relationships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ADF45D-5F9A-461F-999E-CF25FA5583D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D5D96F-2D1B-415F-BCAD-10C0B89E961F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EFC227-6354-40F6-8CB8-91A4A0F737AC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156194-C21F-4ADC-9B9C-C877242FE50E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7AFD55-5008-44CD-950D-5DF5A9386945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CBC4BC-67C4-408D-9272-047A60DCF632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5E3A6F-CDDE-479B-95A1-2761F9D78551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555649-3F0B-4865-B03C-665734630343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96FB1A-FA60-429E-A2E9-4CFDF2E10AD2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137BF9-1B1F-4C9E-BCF1-6910AE85A0F7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14D610-2679-4914-9E12-A4E5CA7224CF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9EC65B-5D5E-4BA0-8DB5-5C296148FFF1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358547-DE42-4CD3-9F1A-A1884A6BE38F}" type="slidenum">
              <a:rPr b="0" lang="es-E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doi.org/10.1080/15592294.2016.1185580" TargetMode="External"/><Relationship Id="rId2" Type="http://schemas.openxmlformats.org/officeDocument/2006/relationships/hyperlink" Target="https://doi.org/10.1111/j.1365-313x.2009.03844.x" TargetMode="External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2185560"/>
            <a:ext cx="9143280" cy="13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Alineamiento Global de Secuencias: Algoritmo de Needleman–Wunsch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682920" y="4498200"/>
            <a:ext cx="596412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Nombre: Esteban Bustamante Villarreal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Docente: Roberto Rosales, Joan Izquierdo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Algoritmos y Estructura de datos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Fecha:12/12/2025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2" descr="Universidad de Talca"/>
          <p:cNvPicPr/>
          <p:nvPr/>
        </p:nvPicPr>
        <p:blipFill>
          <a:blip r:embed="rId1"/>
          <a:stretch/>
        </p:blipFill>
        <p:spPr>
          <a:xfrm>
            <a:off x="311040" y="145440"/>
            <a:ext cx="1783080" cy="178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1447560"/>
            <a:ext cx="10514880" cy="6620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Arquitectura del código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2289240"/>
            <a:ext cx="10514880" cy="312048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Lectura de archivos (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leerFasta, leer_funU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Construcción de la función de similitud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Construcción de la matriz de puntuación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Backtracking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Resultados de similitud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Generación de gráficas en dot/PNG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1"/>
          <p:cNvSpPr/>
          <p:nvPr/>
        </p:nvSpPr>
        <p:spPr>
          <a:xfrm>
            <a:off x="838080" y="1325880"/>
            <a:ext cx="10514880" cy="78372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Matriz de puntuación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Marcador de contenido 2"/>
          <p:cNvSpPr/>
          <p:nvPr/>
        </p:nvSpPr>
        <p:spPr>
          <a:xfrm>
            <a:off x="838080" y="2289240"/>
            <a:ext cx="10514880" cy="31204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Construcción: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lphaLcParenR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Revisa el valor superior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lphaLcParenR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Revisa el valor izquierdo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lphaLcParenR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Revisa el valor diagonal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Marcador de contenido 2"/>
          <p:cNvSpPr/>
          <p:nvPr/>
        </p:nvSpPr>
        <p:spPr>
          <a:xfrm>
            <a:off x="838080" y="4123800"/>
            <a:ext cx="10514880" cy="128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Escoge el valor más grande: max[top, left, diag] para ingresarlo en la matriz en f[x][y].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ítulo 1"/>
          <p:cNvSpPr/>
          <p:nvPr/>
        </p:nvSpPr>
        <p:spPr>
          <a:xfrm>
            <a:off x="838080" y="1447560"/>
            <a:ext cx="10514880" cy="6620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Backtracking: reconstrucción del alineamiento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Marcador de contenido 2"/>
          <p:cNvSpPr/>
          <p:nvPr/>
        </p:nvSpPr>
        <p:spPr>
          <a:xfrm>
            <a:off x="838080" y="2289240"/>
            <a:ext cx="10514880" cy="31204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Comienza desde f[i][j]: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“i”: largo de la cadena T (</a:t>
            </a: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n.º de filas)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“j” : largo de la cadena S (n.º de columnas)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Reconstruye cada secuencia según prioridad: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Diagonal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Arriba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Izquierda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Marcador de contenido 2"/>
          <p:cNvSpPr/>
          <p:nvPr/>
        </p:nvSpPr>
        <p:spPr>
          <a:xfrm>
            <a:off x="838080" y="3648600"/>
            <a:ext cx="10514880" cy="13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CL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ítulo 1"/>
          <p:cNvSpPr/>
          <p:nvPr/>
        </p:nvSpPr>
        <p:spPr>
          <a:xfrm>
            <a:off x="391320" y="707400"/>
            <a:ext cx="6264360" cy="13600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Ejemplo: resultado del alineamiento en terminal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Marcador de contenido 2"/>
          <p:cNvSpPr/>
          <p:nvPr/>
        </p:nvSpPr>
        <p:spPr>
          <a:xfrm>
            <a:off x="391320" y="2067840"/>
            <a:ext cx="5728680" cy="45316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Alineamiento: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% Identidad: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uadroTexto 7"/>
          <p:cNvSpPr/>
          <p:nvPr/>
        </p:nvSpPr>
        <p:spPr>
          <a:xfrm>
            <a:off x="701640" y="3873240"/>
            <a:ext cx="4626360" cy="5223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uadroTexto 8"/>
          <p:cNvSpPr/>
          <p:nvPr/>
        </p:nvSpPr>
        <p:spPr>
          <a:xfrm>
            <a:off x="701640" y="4490280"/>
            <a:ext cx="5475240" cy="5223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uadroTexto 9"/>
          <p:cNvSpPr/>
          <p:nvPr/>
        </p:nvSpPr>
        <p:spPr>
          <a:xfrm>
            <a:off x="701640" y="5104080"/>
            <a:ext cx="5129640" cy="5288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n 22" descr="Text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031200" y="2201760"/>
            <a:ext cx="2297160" cy="122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n 2" descr="Tabla&#10;&#10;El contenido generado por IA puede ser incorrecto."/>
          <p:cNvPicPr/>
          <p:nvPr/>
        </p:nvPicPr>
        <p:blipFill>
          <a:blip r:embed="rId5"/>
          <a:srcRect l="0" t="0" r="18575" b="0"/>
          <a:stretch/>
        </p:blipFill>
        <p:spPr>
          <a:xfrm>
            <a:off x="7031880" y="214200"/>
            <a:ext cx="4457880" cy="628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ítulo 1"/>
          <p:cNvSpPr/>
          <p:nvPr/>
        </p:nvSpPr>
        <p:spPr>
          <a:xfrm>
            <a:off x="838080" y="1508760"/>
            <a:ext cx="10514880" cy="6008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Resultado del alineamiento (Graphviz)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Marcador de contenido 2"/>
          <p:cNvSpPr/>
          <p:nvPr/>
        </p:nvSpPr>
        <p:spPr>
          <a:xfrm>
            <a:off x="838080" y="2289240"/>
            <a:ext cx="10514880" cy="359856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Ejemplo: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Colores: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Verde: match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Rojo: mismatch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Gris: gap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n 9" descr="Imagen de la pantalla de un video juego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1862280" y="2871720"/>
            <a:ext cx="8466840" cy="111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ítulo 1"/>
          <p:cNvSpPr/>
          <p:nvPr/>
        </p:nvSpPr>
        <p:spPr>
          <a:xfrm>
            <a:off x="372960" y="1110960"/>
            <a:ext cx="5379840" cy="10508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7500" lnSpcReduction="19999"/>
          </a:bodyPr>
          <a:p>
            <a:pPr defTabSz="914400">
              <a:lnSpc>
                <a:spcPct val="12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Matriz de puntuación y camino óptimo (Graphviz)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n 5" descr="Diagram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6095880" y="558360"/>
            <a:ext cx="5466600" cy="588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Marcador de contenido 2"/>
          <p:cNvSpPr/>
          <p:nvPr/>
        </p:nvSpPr>
        <p:spPr>
          <a:xfrm>
            <a:off x="286200" y="2323800"/>
            <a:ext cx="5466600" cy="289656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Las flechas siempre indican el valor más alto.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 caso de haber más de una casilla con el valor más alto, sigue esta prioridad: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Diagonal (ingresa S y 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Arriba (ingresa S, gap en 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Izquierda (ingresa T, gap en 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ítulo 1"/>
          <p:cNvSpPr/>
          <p:nvPr/>
        </p:nvSpPr>
        <p:spPr>
          <a:xfrm>
            <a:off x="838080" y="784800"/>
            <a:ext cx="10514880" cy="1324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endParaRPr b="0" lang="es-ES" sz="4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Marcador de contenido 2"/>
          <p:cNvSpPr/>
          <p:nvPr/>
        </p:nvSpPr>
        <p:spPr>
          <a:xfrm>
            <a:off x="838080" y="2110320"/>
            <a:ext cx="10514880" cy="38548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El gen NAP1 es una familia de proteínas chaperonas de histonas que ayudan a ensamblar y reorganizar nucleosomas.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Regulación génica de NAP1: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Transporte y ensamblaje de nucleosomas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Estabilidad del genoma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Reparación del ADN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ítulo 1"/>
          <p:cNvSpPr/>
          <p:nvPr/>
        </p:nvSpPr>
        <p:spPr>
          <a:xfrm>
            <a:off x="838080" y="1170360"/>
            <a:ext cx="10514880" cy="825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 NAP1 (nucleosome assembly chaperone)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uadroTexto 6"/>
          <p:cNvSpPr/>
          <p:nvPr/>
        </p:nvSpPr>
        <p:spPr>
          <a:xfrm>
            <a:off x="838080" y="4665600"/>
            <a:ext cx="105148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NAP1 en 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Arabidopsis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y 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Capsella rubella 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es un gen ortólogo, ya que deriva del mismo gen ancestral antes de la especiación, de la familia 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Brassicaceae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n 6" descr="Forma, Flech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1143000" y="1793160"/>
            <a:ext cx="3671280" cy="485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ítulo 1"/>
          <p:cNvSpPr/>
          <p:nvPr/>
        </p:nvSpPr>
        <p:spPr>
          <a:xfrm>
            <a:off x="519120" y="597600"/>
            <a:ext cx="8258400" cy="825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5000" lnSpcReduction="9999"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 NAP1 (nucleosome assembly chaperone)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uadroTexto 9"/>
          <p:cNvSpPr/>
          <p:nvPr/>
        </p:nvSpPr>
        <p:spPr>
          <a:xfrm>
            <a:off x="747720" y="1423800"/>
            <a:ext cx="7135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spcBef>
                <a:spcPts val="751"/>
              </a:spcBef>
              <a:spcAft>
                <a:spcPts val="75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La estructura de NAP1-Related Protein(NRP1) en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Arabidopsis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Helvetica Neue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uadroTexto 12"/>
          <p:cNvSpPr/>
          <p:nvPr/>
        </p:nvSpPr>
        <p:spPr>
          <a:xfrm>
            <a:off x="4599720" y="5434200"/>
            <a:ext cx="408672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Estructura cristalina de la proteína de ensamblaje de nucleosomas 1 (NAP1) de </a:t>
            </a:r>
            <a:r>
              <a:rPr b="0" i="1" lang="es-E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Arabidopsis thaliana</a:t>
            </a: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ítulo 1"/>
          <p:cNvSpPr/>
          <p:nvPr/>
        </p:nvSpPr>
        <p:spPr>
          <a:xfrm>
            <a:off x="838080" y="749880"/>
            <a:ext cx="10514880" cy="9813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Resultado del alineamiento de NAP1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Marcador de contenido 2"/>
          <p:cNvSpPr/>
          <p:nvPr/>
        </p:nvSpPr>
        <p:spPr>
          <a:xfrm>
            <a:off x="472320" y="4158720"/>
            <a:ext cx="11308320" cy="229212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s-CL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Imagen 6" descr="Tabl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3139200" y="1658880"/>
            <a:ext cx="5903280" cy="229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CuadroTexto 10"/>
          <p:cNvSpPr/>
          <p:nvPr/>
        </p:nvSpPr>
        <p:spPr>
          <a:xfrm>
            <a:off x="624960" y="4444920"/>
            <a:ext cx="5135040" cy="17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Importancia biológica del alineamiento: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CL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 altamente conservado.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CL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 las posiciones con una base real (no gaps), el 93% son idénticas.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uadroTexto 12"/>
          <p:cNvSpPr/>
          <p:nvPr/>
        </p:nvSpPr>
        <p:spPr>
          <a:xfrm>
            <a:off x="5925960" y="4444920"/>
            <a:ext cx="5689440" cy="15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Cobertura – 97%: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Del total de la secuencia, el 97% pudo alinearse con una secuencia homóloga.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s-E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Cubren prácticamente la misma región.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ítulo 1"/>
          <p:cNvSpPr/>
          <p:nvPr/>
        </p:nvSpPr>
        <p:spPr>
          <a:xfrm>
            <a:off x="838080" y="964080"/>
            <a:ext cx="10514880" cy="1324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Conclusión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Marcador de contenido 2"/>
          <p:cNvSpPr/>
          <p:nvPr/>
        </p:nvSpPr>
        <p:spPr>
          <a:xfrm>
            <a:off x="838080" y="2289240"/>
            <a:ext cx="10514880" cy="31204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s-CL" sz="2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7"/>
          <p:cNvSpPr/>
          <p:nvPr/>
        </p:nvSpPr>
        <p:spPr>
          <a:xfrm>
            <a:off x="838080" y="2490480"/>
            <a:ext cx="10408320" cy="22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NAP1 presenta una conservación evolutiva significativa entre ambas especies.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 puede sugerir que mantiene la misma función esencial y la evolución ha permitido muy pocos cambios.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Los resultados obtenidos son esperables de genes ortólogos y consistentes con la relación filogenética cercana entre 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Arabidopsis</a:t>
            </a: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y </a:t>
            </a:r>
            <a:r>
              <a:rPr b="0" i="1" lang="es-CL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Capsella.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Marcador de contenido 2"/>
          <p:cNvSpPr/>
          <p:nvPr/>
        </p:nvSpPr>
        <p:spPr>
          <a:xfrm>
            <a:off x="838080" y="2110320"/>
            <a:ext cx="10514880" cy="385488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s-CL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Título 1"/>
          <p:cNvSpPr/>
          <p:nvPr/>
        </p:nvSpPr>
        <p:spPr>
          <a:xfrm>
            <a:off x="838080" y="1170360"/>
            <a:ext cx="10514880" cy="8254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s-CL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Referencias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1432440" y="2269080"/>
            <a:ext cx="9777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-457200" rIns="90000" tIns="0" bIns="0" anchor="ctr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Bey, T., Jamge, S., Klemme, S., Komar, D. N., Gall, S. L., Mikulski, P., Schmidt, M., Zicola, J., &amp; Berr, A. (2016). Chromatin and epigenetics in all their states: Meeting report of the first conference on Epigenetic and Chromatin Regulation of Plant Traits - January 14 – 15, 2016 - Strasbourg, France. </a:t>
            </a:r>
            <a:r>
              <a:rPr b="0" i="1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Epigenetics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, </a:t>
            </a:r>
            <a:r>
              <a:rPr b="0" i="1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11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(8), 625-634. 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https://doi.org/10.1080/15592294.2016.1185580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5"/>
          <p:cNvSpPr/>
          <p:nvPr/>
        </p:nvSpPr>
        <p:spPr>
          <a:xfrm>
            <a:off x="1432440" y="3578760"/>
            <a:ext cx="9777240" cy="13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-457200" rIns="90000" tIns="0" bIns="0" anchor="ctr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Liu, Z., Zhu, Y., Gao, J., Yu, F., Dong, A., &amp; Shen, W. (2009). Molecular and reverse genetic characterization of NUCLEOSOME ASSEMBLY PROTEIN1 ( NAP1 ) genes unravels their function in transcription and nucleotide excision repair in Arabidopsis thaliana. </a:t>
            </a:r>
            <a:r>
              <a:rPr b="0" i="1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Plant Journal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, </a:t>
            </a:r>
            <a:r>
              <a:rPr b="0" i="1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59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(1), 27-38. 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  <a:hlinkClick r:id="rId2"/>
              </a:rPr>
              <a:t>https://doi.org/10.1111/j.1365-313x.2009.03844.x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"/>
          <p:cNvSpPr/>
          <p:nvPr/>
        </p:nvSpPr>
        <p:spPr>
          <a:xfrm>
            <a:off x="1432440" y="4902120"/>
            <a:ext cx="97772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-457200" rIns="90000" tIns="0" bIns="0" anchor="ctr">
            <a:sp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Bank, R. P. D. (s. f.). </a:t>
            </a:r>
            <a:r>
              <a:rPr b="0" i="1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RCSB PDB - 5DAY: The structure of NAP1-Related Protein(NRP1) in Arabidopsis</a:t>
            </a:r>
            <a:r>
              <a:rPr b="0" lang="es-ES" sz="17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. https://www.rcsb.org/structure/5DAY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Application>LibreOffice/25.8.3.2$Linux_X86_64 LibreOffice_project/580$Build-2</Application>
  <AppVersion>15.0000</AppVersion>
  <Words>698</Words>
  <Paragraphs>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2025-12-11T15:05:47Z</dcterms:created>
  <dc:creator>esteban alfonso bustamante villarreal</dc:creator>
  <dc:description/>
  <dc:language>en-US</dc:language>
  <cp:lastModifiedBy/>
  <dcterms:modified xsi:type="dcterms:W3CDTF">2025-12-12T13:18:52Z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Panorámica</vt:lpwstr>
  </property>
  <property fmtid="{D5CDD505-2E9C-101B-9397-08002B2CF9AE}" pid="4" name="Slides">
    <vt:i4>12</vt:i4>
  </property>
</Properties>
</file>